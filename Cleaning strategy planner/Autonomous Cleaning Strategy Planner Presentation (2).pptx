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Inter" panose="020B0604020202020204" charset="0"/>
      <p:bold r:id="rId7"/>
      <p:boldItalic r:id="rId8"/>
    </p:embeddedFont>
    <p:embeddedFont>
      <p:font typeface="Inter Medium" panose="020B0604020202020204" charset="0"/>
      <p:regular r:id="rId9"/>
      <p:bold r:id="rId10"/>
      <p:italic r:id="rId11"/>
      <p:boldItalic r:id="rId12"/>
    </p:embeddedFont>
    <p:embeddedFont>
      <p:font typeface="Inter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rrapragadacharansai@gmail.com" userId="bba79a417b21d977" providerId="LiveId" clId="{E76A2F6D-56AF-4C3F-89E4-D17684D15B2C}"/>
    <pc:docChg chg="custSel modSld">
      <pc:chgData name="yerrapragadacharansai@gmail.com" userId="bba79a417b21d977" providerId="LiveId" clId="{E76A2F6D-56AF-4C3F-89E4-D17684D15B2C}" dt="2026-06-15T16:14:52.592" v="60" actId="14100"/>
      <pc:docMkLst>
        <pc:docMk/>
      </pc:docMkLst>
      <pc:sldChg chg="delSp modSp mod">
        <pc:chgData name="yerrapragadacharansai@gmail.com" userId="bba79a417b21d977" providerId="LiveId" clId="{E76A2F6D-56AF-4C3F-89E4-D17684D15B2C}" dt="2026-06-15T16:13:01.008" v="53" actId="20577"/>
        <pc:sldMkLst>
          <pc:docMk/>
          <pc:sldMk cId="0" sldId="258"/>
        </pc:sldMkLst>
        <pc:spChg chg="mod topLvl">
          <ac:chgData name="yerrapragadacharansai@gmail.com" userId="bba79a417b21d977" providerId="LiveId" clId="{E76A2F6D-56AF-4C3F-89E4-D17684D15B2C}" dt="2026-06-15T16:11:30.876" v="15" actId="207"/>
          <ac:spMkLst>
            <pc:docMk/>
            <pc:sldMk cId="0" sldId="258"/>
            <ac:spMk id="154" creationId="{00000000-0000-0000-0000-000000000000}"/>
          </ac:spMkLst>
        </pc:spChg>
        <pc:spChg chg="del topLvl">
          <ac:chgData name="yerrapragadacharansai@gmail.com" userId="bba79a417b21d977" providerId="LiveId" clId="{E76A2F6D-56AF-4C3F-89E4-D17684D15B2C}" dt="2026-06-15T16:10:58.203" v="1" actId="478"/>
          <ac:spMkLst>
            <pc:docMk/>
            <pc:sldMk cId="0" sldId="258"/>
            <ac:spMk id="155" creationId="{00000000-0000-0000-0000-000000000000}"/>
          </ac:spMkLst>
        </pc:spChg>
        <pc:spChg chg="mod">
          <ac:chgData name="yerrapragadacharansai@gmail.com" userId="bba79a417b21d977" providerId="LiveId" clId="{E76A2F6D-56AF-4C3F-89E4-D17684D15B2C}" dt="2026-06-15T16:12:22.847" v="32" actId="207"/>
          <ac:spMkLst>
            <pc:docMk/>
            <pc:sldMk cId="0" sldId="258"/>
            <ac:spMk id="169" creationId="{00000000-0000-0000-0000-000000000000}"/>
          </ac:spMkLst>
        </pc:spChg>
        <pc:spChg chg="mod">
          <ac:chgData name="yerrapragadacharansai@gmail.com" userId="bba79a417b21d977" providerId="LiveId" clId="{E76A2F6D-56AF-4C3F-89E4-D17684D15B2C}" dt="2026-06-15T16:12:09.854" v="30" actId="207"/>
          <ac:spMkLst>
            <pc:docMk/>
            <pc:sldMk cId="0" sldId="258"/>
            <ac:spMk id="170" creationId="{00000000-0000-0000-0000-000000000000}"/>
          </ac:spMkLst>
        </pc:spChg>
        <pc:spChg chg="mod">
          <ac:chgData name="yerrapragadacharansai@gmail.com" userId="bba79a417b21d977" providerId="LiveId" clId="{E76A2F6D-56AF-4C3F-89E4-D17684D15B2C}" dt="2026-06-15T16:13:01.008" v="53" actId="20577"/>
          <ac:spMkLst>
            <pc:docMk/>
            <pc:sldMk cId="0" sldId="258"/>
            <ac:spMk id="173" creationId="{00000000-0000-0000-0000-000000000000}"/>
          </ac:spMkLst>
        </pc:spChg>
        <pc:grpChg chg="del">
          <ac:chgData name="yerrapragadacharansai@gmail.com" userId="bba79a417b21d977" providerId="LiveId" clId="{E76A2F6D-56AF-4C3F-89E4-D17684D15B2C}" dt="2026-06-15T16:10:58.203" v="1" actId="478"/>
          <ac:grpSpMkLst>
            <pc:docMk/>
            <pc:sldMk cId="0" sldId="258"/>
            <ac:grpSpMk id="153" creationId="{00000000-0000-0000-0000-000000000000}"/>
          </ac:grpSpMkLst>
        </pc:grpChg>
        <pc:grpChg chg="mod">
          <ac:chgData name="yerrapragadacharansai@gmail.com" userId="bba79a417b21d977" providerId="LiveId" clId="{E76A2F6D-56AF-4C3F-89E4-D17684D15B2C}" dt="2026-06-15T16:10:52.358" v="0" actId="1076"/>
          <ac:grpSpMkLst>
            <pc:docMk/>
            <pc:sldMk cId="0" sldId="258"/>
            <ac:grpSpMk id="156" creationId="{00000000-0000-0000-0000-000000000000}"/>
          </ac:grpSpMkLst>
        </pc:grpChg>
      </pc:sldChg>
      <pc:sldChg chg="addSp modSp mod">
        <pc:chgData name="yerrapragadacharansai@gmail.com" userId="bba79a417b21d977" providerId="LiveId" clId="{E76A2F6D-56AF-4C3F-89E4-D17684D15B2C}" dt="2026-06-15T16:14:52.592" v="60" actId="14100"/>
        <pc:sldMkLst>
          <pc:docMk/>
          <pc:sldMk cId="0" sldId="259"/>
        </pc:sldMkLst>
        <pc:spChg chg="mod">
          <ac:chgData name="yerrapragadacharansai@gmail.com" userId="bba79a417b21d977" providerId="LiveId" clId="{E76A2F6D-56AF-4C3F-89E4-D17684D15B2C}" dt="2026-06-15T16:14:15.638" v="54" actId="20577"/>
          <ac:spMkLst>
            <pc:docMk/>
            <pc:sldMk cId="0" sldId="259"/>
            <ac:spMk id="186" creationId="{00000000-0000-0000-0000-000000000000}"/>
          </ac:spMkLst>
        </pc:spChg>
        <pc:picChg chg="add mod">
          <ac:chgData name="yerrapragadacharansai@gmail.com" userId="bba79a417b21d977" providerId="LiveId" clId="{E76A2F6D-56AF-4C3F-89E4-D17684D15B2C}" dt="2026-06-15T16:14:52.592" v="60" actId="14100"/>
          <ac:picMkLst>
            <pc:docMk/>
            <pc:sldMk cId="0" sldId="259"/>
            <ac:picMk id="3" creationId="{B7AC26F6-C6C2-4A51-A524-06F0D52BBA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1a03ac1c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1a03ac1c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1a03ac1c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1a03ac1c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11a03ac1c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11a03ac1c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11a03ac1c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11a03ac1c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11a03ac1c_17_0)">
  <p:cSld name="Generated (g3f11a03ac1c_17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87822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381000" y="733075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Autonomous Cleaning Strategy Planner: AI-Based Path Planning for Cleaning Robots</a:t>
            </a:r>
            <a:endParaRPr sz="2400" b="1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381000" y="1524000"/>
            <a:ext cx="8382000" cy="0"/>
            <a:chOff x="0" y="0"/>
            <a:chExt cx="8382000" cy="0"/>
          </a:xfrm>
        </p:grpSpPr>
        <p:cxnSp>
          <p:nvCxnSpPr>
            <p:cNvPr id="59" name="Google Shape;59;p14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4"/>
            <p:cNvCxnSpPr/>
            <p:nvPr/>
          </p:nvCxnSpPr>
          <p:spPr>
            <a:xfrm>
              <a:off x="0" y="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1" name="Google Shape;61;p14"/>
          <p:cNvGrpSpPr/>
          <p:nvPr/>
        </p:nvGrpSpPr>
        <p:grpSpPr>
          <a:xfrm>
            <a:off x="381000" y="1905000"/>
            <a:ext cx="4000500" cy="1714500"/>
            <a:chOff x="0" y="0"/>
            <a:chExt cx="4000500" cy="17145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4000500" cy="1714500"/>
            </a:xfrm>
            <a:prstGeom prst="roundRect">
              <a:avLst>
                <a:gd name="adj" fmla="val 4444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0" y="0"/>
              <a:ext cx="38100" cy="17145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190500" y="190500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Research Team</a:t>
              </a:r>
              <a:endParaRPr sz="825" b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K.V KOUSHAL (Roll No: 2520030009)</a:t>
              </a:r>
              <a:endParaRPr sz="900" b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Y.CHARAN SAI (Roll No: 2520030173)</a:t>
              </a:r>
              <a:endParaRPr sz="900" b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MAHANKALI SAI TARUN (Roll No: 2520090020)</a:t>
              </a:r>
              <a:endParaRPr sz="900" b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Department</a:t>
              </a:r>
              <a:endParaRPr sz="825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Computer Science &amp; Engineering</a:t>
              </a:r>
              <a:endParaRPr sz="900" b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4762500" y="1714500"/>
            <a:ext cx="4000500" cy="3000300"/>
            <a:chOff x="0" y="0"/>
            <a:chExt cx="4000500" cy="30003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4000500" cy="3000300"/>
            </a:xfrm>
            <a:prstGeom prst="roundRect">
              <a:avLst>
                <a:gd name="adj" fmla="val 2539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95250" y="95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3714750" y="27146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9" name="Google Shape;69;p14"/>
            <p:cNvPicPr preferRelativeResize="0"/>
            <p:nvPr/>
          </p:nvPicPr>
          <p:blipFill rotWithShape="1">
            <a:blip r:embed="rId4">
              <a:alphaModFix/>
            </a:blip>
            <a:srcRect t="1756" b="1756"/>
            <a:stretch/>
          </p:blipFill>
          <p:spPr>
            <a:xfrm>
              <a:off x="190500" y="190500"/>
              <a:ext cx="3619500" cy="26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4"/>
            <p:cNvSpPr/>
            <p:nvPr/>
          </p:nvSpPr>
          <p:spPr>
            <a:xfrm>
              <a:off x="190500" y="190500"/>
              <a:ext cx="3619500" cy="2619300"/>
            </a:xfrm>
            <a:prstGeom prst="roundRect">
              <a:avLst>
                <a:gd name="adj" fmla="val 2909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381000" y="4857750"/>
            <a:ext cx="8382000" cy="238125"/>
            <a:chOff x="381000" y="4857750"/>
            <a:chExt cx="8382000" cy="238125"/>
          </a:xfrm>
        </p:grpSpPr>
        <p:cxnSp>
          <p:nvCxnSpPr>
            <p:cNvPr id="72" name="Google Shape;72;p14"/>
            <p:cNvCxnSpPr/>
            <p:nvPr/>
          </p:nvCxnSpPr>
          <p:spPr>
            <a:xfrm>
              <a:off x="381000" y="48577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3" name="Google Shape;73;p14"/>
            <p:cNvSpPr txBox="1"/>
            <p:nvPr/>
          </p:nvSpPr>
          <p:spPr>
            <a:xfrm>
              <a:off x="381000" y="49053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825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Autonomous Cleaning Strategy Planner</a:t>
              </a:r>
              <a:endParaRPr sz="825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74" name="Google Shape;7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550" y="71150"/>
            <a:ext cx="1600375" cy="6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87822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Intelligent Decision-Making Automates Indoor Cleaning and Reduces Human Effort</a:t>
            </a:r>
            <a:endParaRPr sz="2400" b="1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" name="Google Shape;82;p15"/>
          <p:cNvGrpSpPr/>
          <p:nvPr/>
        </p:nvGrpSpPr>
        <p:grpSpPr>
          <a:xfrm>
            <a:off x="381000" y="1428750"/>
            <a:ext cx="1524000" cy="1333500"/>
            <a:chOff x="0" y="0"/>
            <a:chExt cx="1524000" cy="1333500"/>
          </a:xfrm>
        </p:grpSpPr>
        <p:grpSp>
          <p:nvGrpSpPr>
            <p:cNvPr id="83" name="Google Shape;83;p15"/>
            <p:cNvGrpSpPr/>
            <p:nvPr/>
          </p:nvGrpSpPr>
          <p:grpSpPr>
            <a:xfrm>
              <a:off x="0" y="0"/>
              <a:ext cx="1524000" cy="1333500"/>
              <a:chOff x="0" y="0"/>
              <a:chExt cx="1524000" cy="1333500"/>
            </a:xfrm>
          </p:grpSpPr>
          <p:sp>
            <p:nvSpPr>
              <p:cNvPr id="84" name="Google Shape;84;p15"/>
              <p:cNvSpPr/>
              <p:nvPr/>
            </p:nvSpPr>
            <p:spPr>
              <a:xfrm>
                <a:off x="0" y="0"/>
                <a:ext cx="15240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571500" y="190500"/>
                <a:ext cx="381000" cy="381000"/>
              </a:xfrm>
              <a:prstGeom prst="ellipse">
                <a:avLst/>
              </a:prstGeom>
              <a:solidFill>
                <a:srgbClr val="0F172A"/>
              </a:solidFill>
              <a:ln w="9525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15"/>
            <p:cNvGrpSpPr/>
            <p:nvPr/>
          </p:nvGrpSpPr>
          <p:grpSpPr>
            <a:xfrm>
              <a:off x="647700" y="228600"/>
              <a:ext cx="228600" cy="228600"/>
              <a:chOff x="38100" y="0"/>
              <a:chExt cx="228600" cy="228600"/>
            </a:xfrm>
          </p:grpSpPr>
          <p:sp>
            <p:nvSpPr>
              <p:cNvPr id="87" name="Google Shape;87;p15"/>
              <p:cNvSpPr/>
              <p:nvPr/>
            </p:nvSpPr>
            <p:spPr>
              <a:xfrm>
                <a:off x="38100" y="76200"/>
                <a:ext cx="228600" cy="152400"/>
              </a:xfrm>
              <a:prstGeom prst="roundRect">
                <a:avLst>
                  <a:gd name="adj" fmla="val 25000"/>
                </a:avLst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114300" y="1143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76200" y="0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" name="Google Shape;90;p15"/>
            <p:cNvSpPr txBox="1"/>
            <p:nvPr/>
          </p:nvSpPr>
          <p:spPr>
            <a:xfrm>
              <a:off x="95250" y="714375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Automate indoor cleaning tasks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2095500" y="1428750"/>
            <a:ext cx="1524000" cy="1333500"/>
            <a:chOff x="0" y="0"/>
            <a:chExt cx="1524000" cy="1333500"/>
          </a:xfrm>
        </p:grpSpPr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1524000" cy="1333500"/>
              <a:chOff x="0" y="0"/>
              <a:chExt cx="1524000" cy="13335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0"/>
                <a:ext cx="15240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571500" y="190500"/>
                <a:ext cx="381000" cy="381000"/>
              </a:xfrm>
              <a:prstGeom prst="ellipse">
                <a:avLst/>
              </a:prstGeom>
              <a:solidFill>
                <a:srgbClr val="0F172A"/>
              </a:solidFill>
              <a:ln w="9525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15"/>
            <p:cNvGrpSpPr/>
            <p:nvPr/>
          </p:nvGrpSpPr>
          <p:grpSpPr>
            <a:xfrm>
              <a:off x="647700" y="247650"/>
              <a:ext cx="228600" cy="247650"/>
              <a:chOff x="38100" y="19050"/>
              <a:chExt cx="228600" cy="24765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152400" y="76200"/>
                <a:ext cx="57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114300" y="19050"/>
                <a:ext cx="76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" name="Google Shape;99;p15"/>
            <p:cNvSpPr txBox="1"/>
            <p:nvPr/>
          </p:nvSpPr>
          <p:spPr>
            <a:xfrm>
              <a:off x="95250" y="714375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Improve efficiency through intelligent decision-making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3810000" y="1428750"/>
            <a:ext cx="1524000" cy="1333500"/>
            <a:chOff x="0" y="0"/>
            <a:chExt cx="1524000" cy="1333500"/>
          </a:xfrm>
        </p:grpSpPr>
        <p:grpSp>
          <p:nvGrpSpPr>
            <p:cNvPr id="101" name="Google Shape;101;p15"/>
            <p:cNvGrpSpPr/>
            <p:nvPr/>
          </p:nvGrpSpPr>
          <p:grpSpPr>
            <a:xfrm>
              <a:off x="0" y="0"/>
              <a:ext cx="1524000" cy="1333500"/>
              <a:chOff x="0" y="0"/>
              <a:chExt cx="1524000" cy="1333500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0" y="0"/>
                <a:ext cx="15240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571500" y="190500"/>
                <a:ext cx="381000" cy="381000"/>
              </a:xfrm>
              <a:prstGeom prst="ellipse">
                <a:avLst/>
              </a:prstGeom>
              <a:solidFill>
                <a:srgbClr val="0F172A"/>
              </a:solidFill>
              <a:ln w="9525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" name="Google Shape;104;p15"/>
            <p:cNvGrpSpPr/>
            <p:nvPr/>
          </p:nvGrpSpPr>
          <p:grpSpPr>
            <a:xfrm>
              <a:off x="647700" y="266700"/>
              <a:ext cx="228600" cy="228600"/>
              <a:chOff x="38100" y="38100"/>
              <a:chExt cx="228600" cy="228600"/>
            </a:xfrm>
          </p:grpSpPr>
          <p:sp>
            <p:nvSpPr>
              <p:cNvPr id="105" name="Google Shape;105;p15"/>
              <p:cNvSpPr/>
              <p:nvPr/>
            </p:nvSpPr>
            <p:spPr>
              <a:xfrm>
                <a:off x="38100" y="38100"/>
                <a:ext cx="228600" cy="228600"/>
              </a:xfrm>
              <a:prstGeom prst="roundRect">
                <a:avLst>
                  <a:gd name="adj" fmla="val 8333"/>
                </a:avLst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38100" y="38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40000"/>
                    </a:moveTo>
                    <a:lnTo>
                      <a:pt x="120000" y="40000"/>
                    </a:lnTo>
                    <a:moveTo>
                      <a:pt x="0" y="80000"/>
                    </a:moveTo>
                    <a:lnTo>
                      <a:pt x="120000" y="80000"/>
                    </a:lnTo>
                    <a:moveTo>
                      <a:pt x="40000" y="0"/>
                    </a:moveTo>
                    <a:lnTo>
                      <a:pt x="40000" y="120000"/>
                    </a:lnTo>
                    <a:moveTo>
                      <a:pt x="80000" y="0"/>
                    </a:moveTo>
                    <a:lnTo>
                      <a:pt x="8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76200" y="762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0000" y="60000"/>
                    </a:lnTo>
                    <a:lnTo>
                      <a:pt x="90000" y="9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8" name="Google Shape;108;p15"/>
            <p:cNvSpPr txBox="1"/>
            <p:nvPr/>
          </p:nvSpPr>
          <p:spPr>
            <a:xfrm>
              <a:off x="95250" y="714375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Maximize area coverage while avoiding obstacles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5524500" y="1428750"/>
            <a:ext cx="1524000" cy="1333500"/>
            <a:chOff x="0" y="0"/>
            <a:chExt cx="1524000" cy="1333500"/>
          </a:xfrm>
        </p:grpSpPr>
        <p:grpSp>
          <p:nvGrpSpPr>
            <p:cNvPr id="110" name="Google Shape;110;p15"/>
            <p:cNvGrpSpPr/>
            <p:nvPr/>
          </p:nvGrpSpPr>
          <p:grpSpPr>
            <a:xfrm>
              <a:off x="0" y="0"/>
              <a:ext cx="1524000" cy="1333500"/>
              <a:chOff x="0" y="0"/>
              <a:chExt cx="1524000" cy="1333500"/>
            </a:xfrm>
          </p:grpSpPr>
          <p:sp>
            <p:nvSpPr>
              <p:cNvPr id="111" name="Google Shape;111;p15"/>
              <p:cNvSpPr/>
              <p:nvPr/>
            </p:nvSpPr>
            <p:spPr>
              <a:xfrm>
                <a:off x="0" y="0"/>
                <a:ext cx="15240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571500" y="190500"/>
                <a:ext cx="381000" cy="381000"/>
              </a:xfrm>
              <a:prstGeom prst="ellipse">
                <a:avLst/>
              </a:prstGeom>
              <a:solidFill>
                <a:srgbClr val="0F172A"/>
              </a:solidFill>
              <a:ln w="9525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" name="Google Shape;113;p15"/>
            <p:cNvGrpSpPr/>
            <p:nvPr/>
          </p:nvGrpSpPr>
          <p:grpSpPr>
            <a:xfrm>
              <a:off x="666750" y="266700"/>
              <a:ext cx="190500" cy="228600"/>
              <a:chOff x="57150" y="38100"/>
              <a:chExt cx="190500" cy="22860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57150" y="38100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cubicBezTo>
                      <a:pt x="24000" y="0"/>
                      <a:pt x="0" y="20000"/>
                      <a:pt x="0" y="50000"/>
                    </a:cubicBezTo>
                    <a:cubicBezTo>
                      <a:pt x="0" y="80000"/>
                      <a:pt x="24000" y="100000"/>
                      <a:pt x="60000" y="120000"/>
                    </a:cubicBezTo>
                    <a:cubicBezTo>
                      <a:pt x="96000" y="100000"/>
                      <a:pt x="120000" y="80000"/>
                      <a:pt x="120000" y="50000"/>
                    </a:cubicBezTo>
                    <a:cubicBezTo>
                      <a:pt x="120000" y="20000"/>
                      <a:pt x="96000" y="0"/>
                      <a:pt x="60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152400" y="161925"/>
                <a:ext cx="0" cy="57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15"/>
            <p:cNvSpPr txBox="1"/>
            <p:nvPr/>
          </p:nvSpPr>
          <p:spPr>
            <a:xfrm>
              <a:off x="95250" y="714375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Demonstrate practical applications of AI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7239000" y="1428750"/>
            <a:ext cx="1524000" cy="1333500"/>
            <a:chOff x="0" y="0"/>
            <a:chExt cx="1524000" cy="1333500"/>
          </a:xfrm>
        </p:grpSpPr>
        <p:grpSp>
          <p:nvGrpSpPr>
            <p:cNvPr id="119" name="Google Shape;119;p15"/>
            <p:cNvGrpSpPr/>
            <p:nvPr/>
          </p:nvGrpSpPr>
          <p:grpSpPr>
            <a:xfrm>
              <a:off x="0" y="0"/>
              <a:ext cx="1524000" cy="1333500"/>
              <a:chOff x="0" y="0"/>
              <a:chExt cx="1524000" cy="13335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15240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571500" y="190500"/>
                <a:ext cx="381000" cy="381000"/>
              </a:xfrm>
              <a:prstGeom prst="ellipse">
                <a:avLst/>
              </a:prstGeom>
              <a:solidFill>
                <a:srgbClr val="0F172A"/>
              </a:solidFill>
              <a:ln w="9525" cap="flat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647700" y="266700"/>
              <a:ext cx="228600" cy="228600"/>
              <a:chOff x="38100" y="38100"/>
              <a:chExt cx="228600" cy="228600"/>
            </a:xfrm>
          </p:grpSpPr>
          <p:sp>
            <p:nvSpPr>
              <p:cNvPr id="123" name="Google Shape;123;p15"/>
              <p:cNvSpPr/>
              <p:nvPr/>
            </p:nvSpPr>
            <p:spPr>
              <a:xfrm>
                <a:off x="76200" y="95250"/>
                <a:ext cx="171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8100" y="38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" name="Google Shape;125;p15"/>
            <p:cNvSpPr txBox="1"/>
            <p:nvPr/>
          </p:nvSpPr>
          <p:spPr>
            <a:xfrm>
              <a:off x="95250" y="714375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Intelligent decision-making architecture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2667000" y="3238500"/>
            <a:ext cx="3810000" cy="952500"/>
            <a:chOff x="0" y="0"/>
            <a:chExt cx="3810000" cy="952500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3810000" cy="95250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180975" y="200025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45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476250" y="142875"/>
              <a:ext cx="314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Our primary goal is to significantly reduce human effort and cleaning time through high-fidelity automation.</a:t>
              </a:r>
              <a:endParaRPr sz="105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" name="Google Shape;130;p15"/>
          <p:cNvGrpSpPr/>
          <p:nvPr/>
        </p:nvGrpSpPr>
        <p:grpSpPr>
          <a:xfrm>
            <a:off x="381000" y="4857750"/>
            <a:ext cx="8382000" cy="238125"/>
            <a:chOff x="381000" y="4857750"/>
            <a:chExt cx="8382000" cy="238125"/>
          </a:xfrm>
        </p:grpSpPr>
        <p:cxnSp>
          <p:nvCxnSpPr>
            <p:cNvPr id="131" name="Google Shape;131;p15"/>
            <p:cNvCxnSpPr/>
            <p:nvPr/>
          </p:nvCxnSpPr>
          <p:spPr>
            <a:xfrm>
              <a:off x="381000" y="48577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2" name="Google Shape;132;p15"/>
            <p:cNvSpPr txBox="1"/>
            <p:nvPr/>
          </p:nvSpPr>
          <p:spPr>
            <a:xfrm>
              <a:off x="381000" y="49053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825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Autonomous Cleaning Strategy Planner</a:t>
              </a:r>
              <a:endParaRPr sz="825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33" name="Google Shape;13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4250" y="3879848"/>
            <a:ext cx="1333500" cy="8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87822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Hybrid AI Architecture Integrates Search Algorithms and Constraint Satisfaction</a:t>
            </a:r>
            <a:endParaRPr sz="2400" b="1" dirty="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1" name="Google Shape;141;p16"/>
          <p:cNvGrpSpPr/>
          <p:nvPr/>
        </p:nvGrpSpPr>
        <p:grpSpPr>
          <a:xfrm>
            <a:off x="1900238" y="1447800"/>
            <a:ext cx="5343600" cy="2819400"/>
            <a:chOff x="1900238" y="1447800"/>
            <a:chExt cx="5343600" cy="2819400"/>
          </a:xfrm>
        </p:grpSpPr>
        <p:pic>
          <p:nvPicPr>
            <p:cNvPr id="142" name="Google Shape;142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00238" y="1704975"/>
              <a:ext cx="2676600" cy="116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2475" y="1447800"/>
              <a:ext cx="19200" cy="140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7238" y="1704975"/>
              <a:ext cx="2676600" cy="116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43100" y="2847975"/>
              <a:ext cx="2628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72000" y="2847975"/>
              <a:ext cx="2628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00238" y="2847975"/>
              <a:ext cx="2676600" cy="116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2475" y="2857500"/>
              <a:ext cx="19200" cy="140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567238" y="2847975"/>
              <a:ext cx="2676600" cy="1162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16"/>
          <p:cNvGrpSpPr/>
          <p:nvPr/>
        </p:nvGrpSpPr>
        <p:grpSpPr>
          <a:xfrm>
            <a:off x="3619500" y="2476500"/>
            <a:ext cx="1905000" cy="762000"/>
            <a:chOff x="0" y="0"/>
            <a:chExt cx="1905000" cy="76200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190500" y="19050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Autonomous</a:t>
              </a:r>
              <a:br>
                <a:rPr lang="en" sz="9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9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Cleaning Agent</a:t>
              </a:r>
              <a:endParaRPr sz="9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4" name="Google Shape;154;p16"/>
          <p:cNvSpPr/>
          <p:nvPr/>
        </p:nvSpPr>
        <p:spPr>
          <a:xfrm>
            <a:off x="1143000" y="1476375"/>
            <a:ext cx="1524000" cy="4764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</a:rPr>
              <a:t>Greedy Search</a:t>
            </a:r>
            <a:endParaRPr dirty="0">
              <a:solidFill>
                <a:schemeClr val="tx2"/>
              </a:solidFill>
            </a:endParaRPr>
          </a:p>
        </p:txBody>
      </p:sp>
      <p:grpSp>
        <p:nvGrpSpPr>
          <p:cNvPr id="156" name="Google Shape;156;p16"/>
          <p:cNvGrpSpPr/>
          <p:nvPr/>
        </p:nvGrpSpPr>
        <p:grpSpPr>
          <a:xfrm>
            <a:off x="3752850" y="1197178"/>
            <a:ext cx="1524000" cy="476400"/>
            <a:chOff x="0" y="0"/>
            <a:chExt cx="1524000" cy="4764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BFS / UCS / A*</a:t>
              </a:r>
              <a:endParaRPr sz="9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6"/>
          <p:cNvGrpSpPr/>
          <p:nvPr/>
        </p:nvGrpSpPr>
        <p:grpSpPr>
          <a:xfrm>
            <a:off x="6477000" y="1476375"/>
            <a:ext cx="1524000" cy="476400"/>
            <a:chOff x="0" y="0"/>
            <a:chExt cx="1524000" cy="476400"/>
          </a:xfrm>
        </p:grpSpPr>
        <p:sp>
          <p:nvSpPr>
            <p:cNvPr id="160" name="Google Shape;160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Heuristic Functions</a:t>
              </a:r>
              <a:endParaRPr sz="9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16"/>
          <p:cNvGrpSpPr/>
          <p:nvPr/>
        </p:nvGrpSpPr>
        <p:grpSpPr>
          <a:xfrm>
            <a:off x="381000" y="2619375"/>
            <a:ext cx="1524000" cy="476400"/>
            <a:chOff x="0" y="0"/>
            <a:chExt cx="1524000" cy="476400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Obstacle Avoidance</a:t>
              </a:r>
              <a:endParaRPr sz="9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7239000" y="2619375"/>
            <a:ext cx="1524000" cy="476400"/>
            <a:chOff x="0" y="0"/>
            <a:chExt cx="1524000" cy="4764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Utility Decision Making</a:t>
              </a:r>
              <a:endParaRPr sz="9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6"/>
          <p:cNvGrpSpPr/>
          <p:nvPr/>
        </p:nvGrpSpPr>
        <p:grpSpPr>
          <a:xfrm>
            <a:off x="1143000" y="3762375"/>
            <a:ext cx="1524000" cy="476400"/>
            <a:chOff x="0" y="0"/>
            <a:chExt cx="1524000" cy="476400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2"/>
                  </a:solidFill>
                </a:rPr>
                <a:t>Path Planning</a:t>
              </a: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dirty="0">
                <a:solidFill>
                  <a:schemeClr val="tx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3810000" y="4048125"/>
            <a:ext cx="1524000" cy="476400"/>
            <a:chOff x="0" y="0"/>
            <a:chExt cx="1524000" cy="476400"/>
          </a:xfrm>
        </p:grpSpPr>
        <p:sp>
          <p:nvSpPr>
            <p:cNvPr id="172" name="Google Shape;172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Search </a:t>
              </a:r>
              <a:r>
                <a:rPr lang="en-US" sz="900" b="0" dirty="0" err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Visalization</a:t>
              </a:r>
              <a:endParaRPr sz="900" b="0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16"/>
          <p:cNvGrpSpPr/>
          <p:nvPr/>
        </p:nvGrpSpPr>
        <p:grpSpPr>
          <a:xfrm>
            <a:off x="6477000" y="3762375"/>
            <a:ext cx="1524000" cy="476400"/>
            <a:chOff x="0" y="0"/>
            <a:chExt cx="1524000" cy="476400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0"/>
              <a:ext cx="1524000" cy="476400"/>
            </a:xfrm>
            <a:prstGeom prst="roundRect">
              <a:avLst>
                <a:gd name="adj" fmla="val 16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95250" y="9525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Hybrid Architecture</a:t>
              </a:r>
              <a:endParaRPr sz="900" b="0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381000" y="4857750"/>
            <a:ext cx="8382000" cy="238125"/>
            <a:chOff x="381000" y="4857750"/>
            <a:chExt cx="8382000" cy="238125"/>
          </a:xfrm>
        </p:grpSpPr>
        <p:cxnSp>
          <p:nvCxnSpPr>
            <p:cNvPr id="178" name="Google Shape;178;p16"/>
            <p:cNvCxnSpPr/>
            <p:nvPr/>
          </p:nvCxnSpPr>
          <p:spPr>
            <a:xfrm>
              <a:off x="381000" y="48577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9" name="Google Shape;179;p16"/>
            <p:cNvSpPr txBox="1"/>
            <p:nvPr/>
          </p:nvSpPr>
          <p:spPr>
            <a:xfrm>
              <a:off x="381000" y="49053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825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Autonomous Cleaning Strategy Planner</a:t>
              </a:r>
              <a:endParaRPr sz="825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80" name="Google Shape;180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19825" y="4048123"/>
            <a:ext cx="1333500" cy="8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825" y="4048123"/>
            <a:ext cx="1333500" cy="8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AC26F6-C6C2-4A51-A524-06F0D52BB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44" y="598310"/>
            <a:ext cx="8382000" cy="34498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</Words>
  <Application>Microsoft Office PowerPoint</Application>
  <PresentationFormat>On-screen Show (16:9)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Inter</vt:lpstr>
      <vt:lpstr>Inter SemiBold</vt:lpstr>
      <vt:lpstr>Inter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yerrapragadacharansai@gmail.com</cp:lastModifiedBy>
  <cp:revision>1</cp:revision>
  <dcterms:modified xsi:type="dcterms:W3CDTF">2026-06-15T16:14:52Z</dcterms:modified>
</cp:coreProperties>
</file>